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41" autoAdjust="0"/>
  </p:normalViewPr>
  <p:slideViewPr>
    <p:cSldViewPr snapToGrid="0" snapToObjects="1">
      <p:cViewPr varScale="1">
        <p:scale>
          <a:sx n="78" d="100"/>
          <a:sy n="78" d="100"/>
        </p:scale>
        <p:origin x="1594" y="5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-914400" y="-914400"/>
            <a:ext cx="4572000" cy="8686800"/>
          </a:xfrm>
          <a:prstGeom prst="roundRect">
            <a:avLst>
              <a:gd name="adj" fmla="val 5000"/>
            </a:avLst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35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12280"/>
            <a:ext cx="9144000" cy="635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EC4899"/>
                </a:solidFill>
                <a:latin typeface="Calibri"/>
              </a:defRPr>
            </a:pPr>
            <a:r>
              <a:t>SALESDB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3B82F6"/>
                </a:solidFill>
                <a:latin typeface="Calibri"/>
              </a:defRPr>
            </a:pPr>
            <a:r>
              <a:t>Sales Analytics Dashboard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3017520"/>
            <a:ext cx="2743200" cy="254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A Full-Stack Web Application for Sales Data Management &amp; Analytics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4114800"/>
            <a:ext cx="457200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60320" y="425196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rPr dirty="0"/>
              <a:t>Presented by: [Your Name]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457200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rPr dirty="0"/>
              <a:t>Roll No: [Your Roll Number]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489204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rPr dirty="0"/>
              <a:t>Department: [Your Department]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521208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rPr dirty="0"/>
              <a:t>Guide: Prof. [Guide Name]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553212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rPr dirty="0"/>
              <a:t>Institution: [Your Institution]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1 / 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1000">
        <p159:morph option="byObject"/>
      </p:transition>
    </mc:Choice>
    <mc:Fallback>
      <p:transition spd="slow" advClick="0" advTm="1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C4899"/>
                </a:solidFill>
                <a:latin typeface="Calibri"/>
              </a:defRPr>
            </a:pPr>
            <a:r>
              <a:t>SalesDB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Presentation 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371600" cy="254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2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3931920" cy="640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50800" cy="64008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C4899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1488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Calibri"/>
              </a:defRPr>
            </a:pPr>
            <a:r>
              <a:t>Project Overview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2011680"/>
            <a:ext cx="3931920" cy="640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754880" y="2011680"/>
            <a:ext cx="50800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3776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21488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834640"/>
            <a:ext cx="3931920" cy="640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2834640"/>
            <a:ext cx="50800" cy="6400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855F7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2971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Calibri"/>
              </a:defRPr>
            </a:pPr>
            <a:r>
              <a:t>Objectives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0" y="2834640"/>
            <a:ext cx="3931920" cy="640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754880" y="2834640"/>
            <a:ext cx="50800" cy="64008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3776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DDC84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2971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657600"/>
            <a:ext cx="3931920" cy="640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7200" y="3657600"/>
            <a:ext cx="50800" cy="6400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3749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37947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0" y="3657600"/>
            <a:ext cx="3931920" cy="640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754880" y="3657600"/>
            <a:ext cx="50800" cy="64008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937760" y="3749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43F5E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4960" y="37947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Calibri"/>
              </a:defRPr>
            </a:pPr>
            <a:r>
              <a:t>Database Design &amp; ER Diagram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480560"/>
            <a:ext cx="3931920" cy="640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57200" y="4480560"/>
            <a:ext cx="50800" cy="64008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" y="4572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C4899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46177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Calibri"/>
              </a:defRPr>
            </a:pPr>
            <a:r>
              <a:t>Key Features — Dashboard &amp; CRUD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54880" y="4480560"/>
            <a:ext cx="3931920" cy="640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754880" y="4480560"/>
            <a:ext cx="50800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937760" y="4572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94960" y="46177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Calibri"/>
              </a:defRPr>
            </a:pPr>
            <a:r>
              <a:t>Data Flow &amp; Auto-Calculation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303520"/>
            <a:ext cx="3931920" cy="640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57200" y="5303520"/>
            <a:ext cx="50800" cy="64008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0080" y="5394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DDC84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5440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Calibri"/>
              </a:defRPr>
            </a:pPr>
            <a:r>
              <a:t>Advantages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754880" y="5303520"/>
            <a:ext cx="3931920" cy="640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754880" y="5303520"/>
            <a:ext cx="50800" cy="6400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937760" y="5394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855F7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94960" y="5440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Calibri"/>
              </a:defRPr>
            </a:pPr>
            <a:r>
              <a:t>Demo &amp; Conclusion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1000">
        <p159:morph option="byObject"/>
      </p:transition>
    </mc:Choice>
    <mc:Fallback>
      <p:transition spd="slow" advClick="0" advTm="1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C4899"/>
                </a:solidFill>
                <a:latin typeface="Calibri"/>
              </a:defRPr>
            </a:pPr>
            <a:r>
              <a:t>SalesDB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  <a:latin typeface="Calibri"/>
              </a:defRPr>
            </a:pPr>
            <a: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What is SalesDB?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371600" cy="254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3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SalesDB is a comprehensive full-stack web application designed for managing sales records, customer information, and product catalogs while providing real-time analytics through an interactive dashboard.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926080"/>
            <a:ext cx="393192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2926080"/>
            <a:ext cx="3931920" cy="381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31089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C4899"/>
                </a:solidFill>
                <a:latin typeface="Calibri"/>
              </a:defRPr>
            </a:pPr>
            <a:r>
              <a:t>CORE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6616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Calibri"/>
              </a:defRPr>
            </a:pPr>
            <a:r>
              <a:t>📊  Real-time Dashboard with KPIs &amp; Charts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9768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Calibri"/>
              </a:defRPr>
            </a:pPr>
            <a:r>
              <a:t>👥  Complete Customer Management (CRUD)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02920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Calibri"/>
              </a:defRPr>
            </a:pPr>
            <a:r>
              <a:t>📦  Product Catalog with Pricing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2926080"/>
            <a:ext cx="393192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754880" y="2926080"/>
            <a:ext cx="393192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37760" y="31089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  <a:latin typeface="Calibri"/>
              </a:defRPr>
            </a:pPr>
            <a:r>
              <a:t>TECHNICAL HIGHLIGHTS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356616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Calibri"/>
              </a:defRPr>
            </a:pPr>
            <a:r>
              <a:t>💰  Automatic Sale Amount Calculation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429768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Calibri"/>
              </a:defRPr>
            </a:pPr>
            <a:r>
              <a:t>🎨  Modern Dark-Blue Themed UI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502920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Calibri"/>
              </a:defRPr>
            </a:pPr>
            <a:r>
              <a:t>🔗  RESTful API Architecture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1000">
        <p159:morph option="byObject"/>
      </p:transition>
    </mc:Choice>
    <mc:Fallback>
      <p:transition spd="slow" advClick="0" advTm="1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C4899"/>
                </a:solidFill>
                <a:latin typeface="Calibri"/>
              </a:defRPr>
            </a:pPr>
            <a:r>
              <a:t>SalesDB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Why SalesDB is needed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371600" cy="254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4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3931920" cy="11887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50800" cy="11887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43F5E"/>
                </a:solidFill>
                <a:latin typeface="Calibri"/>
              </a:defRPr>
            </a:pPr>
            <a:r>
              <a:t>📋  Scattered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6888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Sales records spread across spreadsheets, notebooks, and disconnected systems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2011680"/>
            <a:ext cx="3931920" cy="11887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754880" y="2011680"/>
            <a:ext cx="50800" cy="1188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37760" y="21031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  <a:latin typeface="Calibri"/>
              </a:defRPr>
            </a:pPr>
            <a:r>
              <a:t>📉  No Real-time Analytics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46888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Business owners cannot quickly assess performance metrics and trends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474720"/>
            <a:ext cx="3931920" cy="11887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3474720"/>
            <a:ext cx="50800" cy="11887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356616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855F7"/>
                </a:solidFill>
                <a:latin typeface="Calibri"/>
              </a:defRPr>
            </a:pPr>
            <a:r>
              <a:t>🧮  Manual Calculations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93192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Computing totals, averages, and trends is tedious and error-prone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0" y="3474720"/>
            <a:ext cx="3931920" cy="11887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754880" y="3474720"/>
            <a:ext cx="50800" cy="1188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37760" y="356616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📊  Poor Visualization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393192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Raw numbers in spreadsheets don't provide intuitive insights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937760"/>
            <a:ext cx="3931920" cy="11887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7200" y="4937760"/>
            <a:ext cx="50800" cy="118872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502920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DDC84"/>
                </a:solidFill>
                <a:latin typeface="Calibri"/>
              </a:defRPr>
            </a:pPr>
            <a:r>
              <a:t>👥  No Customer Tracking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39496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Cannot segment customers or track membership types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0" y="4937760"/>
            <a:ext cx="3931920" cy="11887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754880" y="4937760"/>
            <a:ext cx="50800" cy="11887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937760" y="502920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C4899"/>
                </a:solidFill>
                <a:latin typeface="Calibri"/>
              </a:defRPr>
            </a:pPr>
            <a:r>
              <a:t>🔍  No Audit Trail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539496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Difficulty tracking who bought what, when, and for how much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1000">
        <p159:morph option="byObject"/>
      </p:transition>
    </mc:Choice>
    <mc:Fallback>
      <p:transition spd="slow" advClick="0" advTm="1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C4899"/>
                </a:solidFill>
                <a:latin typeface="Calibri"/>
              </a:defRPr>
            </a:pPr>
            <a:r>
              <a:t>SalesDB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  <a:latin typeface="Calibri"/>
              </a:defRPr>
            </a:pPr>
            <a:r>
              <a:t>Project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Goals we aim to achieve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371600" cy="254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5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C4899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Calibri"/>
              </a:defRPr>
            </a:pPr>
            <a:r>
              <a:t>Design &amp; develop a full-stack web application for comprehensive sales data management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2423160"/>
            <a:ext cx="7498079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2560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C4899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56032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Calibri"/>
              </a:defRPr>
            </a:pPr>
            <a:r>
              <a:t>Implement complete CRUD operations for Customers, Products, and Sales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2971800"/>
            <a:ext cx="7498079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3108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C4899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10896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Calibri"/>
              </a:defRPr>
            </a:pPr>
            <a:r>
              <a:t>Create an interactive analytics dashboard with KPI cards and Chart.js visualizations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3520440"/>
            <a:ext cx="7498079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3657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C4899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65760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Calibri"/>
              </a:defRPr>
            </a:pPr>
            <a:r>
              <a:t>Design an efficient star schema database with dimension and fact tables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0" y="4069080"/>
            <a:ext cx="7498079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4206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C4899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20624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Calibri"/>
              </a:defRPr>
            </a:pPr>
            <a:r>
              <a:t>Develop a RESTful API using Python Flask as middleware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5840" y="4617720"/>
            <a:ext cx="7498079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754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C4899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75488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Calibri"/>
              </a:defRPr>
            </a:pPr>
            <a:r>
              <a:t>Implement automatic sale amount calculation (Unit Price × Quantity)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" y="5166360"/>
            <a:ext cx="7498079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5303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C4899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30352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Calibri"/>
              </a:defRPr>
            </a:pPr>
            <a:r>
              <a:t>Build a responsive dark-themed UI with modern design patterns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" y="5715000"/>
            <a:ext cx="7498079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5852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C4899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585216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Calibri"/>
              </a:defRPr>
            </a:pPr>
            <a:r>
              <a:t>Ensure data integrity through foreign keys, cascading deletes, and validation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1000">
        <p159:morph option="byObject"/>
      </p:transition>
    </mc:Choice>
    <mc:Fallback>
      <p:transition spd="slow" advClick="0" advTm="1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C4899"/>
                </a:solidFill>
                <a:latin typeface="Calibri"/>
              </a:defRPr>
            </a:pPr>
            <a:r>
              <a:t>SalesDB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Tools &amp; Technologies Used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371600" cy="254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6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011680"/>
            <a:ext cx="2743200" cy="43891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2011680"/>
            <a:ext cx="27432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21488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651760"/>
            <a:ext cx="2468880" cy="6858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6974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FAFC"/>
                </a:solidFill>
                <a:latin typeface="Calibri"/>
              </a:defRPr>
            </a:pPr>
            <a:r>
              <a:t>HTML5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99923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Page structure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520440"/>
            <a:ext cx="2468880" cy="6858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35661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FAFC"/>
                </a:solidFill>
                <a:latin typeface="Calibri"/>
              </a:defRPr>
            </a:pPr>
            <a:r>
              <a:t>CSS3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86791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Dark-blue theme styling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389119"/>
            <a:ext cx="2468880" cy="6858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4434839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FAFC"/>
                </a:solidFill>
                <a:latin typeface="Calibri"/>
              </a:defRPr>
            </a:pPr>
            <a:r>
              <a:t>JavaScript ES6+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736591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DOM &amp; API calls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257800"/>
            <a:ext cx="2468880" cy="6858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53035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FAFC"/>
                </a:solidFill>
                <a:latin typeface="Calibri"/>
              </a:defRPr>
            </a:pPr>
            <a:r>
              <a:t>Chart.js 4.4.1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60527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Bar, Doughnut, Pie charts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91840" y="2011680"/>
            <a:ext cx="2743200" cy="43891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291840" y="2011680"/>
            <a:ext cx="2743200" cy="381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429000" y="21488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C4899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29000" y="2651760"/>
            <a:ext cx="2468880" cy="6858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566160" y="26974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FAFC"/>
                </a:solidFill>
                <a:latin typeface="Calibri"/>
              </a:defRPr>
            </a:pPr>
            <a:r>
              <a:t>Python 3.x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299923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Server-side language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29000" y="3520440"/>
            <a:ext cx="2468880" cy="6858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566160" y="35661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FAFC"/>
                </a:solidFill>
                <a:latin typeface="Calibri"/>
              </a:defRPr>
            </a:pPr>
            <a:r>
              <a:t>Flask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386791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WSGI web framework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29000" y="4389119"/>
            <a:ext cx="2468880" cy="6858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566160" y="4434839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FAFC"/>
                </a:solidFill>
                <a:latin typeface="Calibri"/>
              </a:defRPr>
            </a:pPr>
            <a:r>
              <a:t>flask-cors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0" y="4736591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CORS handling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29000" y="5257800"/>
            <a:ext cx="2468880" cy="6858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566160" y="53035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FAFC"/>
                </a:solidFill>
                <a:latin typeface="Calibri"/>
              </a:defRPr>
            </a:pPr>
            <a:r>
              <a:t>psycopg2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0" y="560527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PostgreSQL adapter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2011680"/>
            <a:ext cx="2743200" cy="43891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217920" y="2011680"/>
            <a:ext cx="2743200" cy="3810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55080" y="21488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DDC84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55080" y="2651760"/>
            <a:ext cx="2468880" cy="6858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92240" y="26974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FAFC"/>
                </a:solidFill>
                <a:latin typeface="Calibri"/>
              </a:defRPr>
            </a:pPr>
            <a:r>
              <a:t>PostgreSQL 16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299923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RDBMS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55080" y="3520440"/>
            <a:ext cx="2468880" cy="6858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92240" y="35661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FAFC"/>
                </a:solidFill>
                <a:latin typeface="Calibri"/>
              </a:defRPr>
            </a:pPr>
            <a:r>
              <a:t>Star Schema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386791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Dimension + Fact tables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355080" y="4389119"/>
            <a:ext cx="2468880" cy="6858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92240" y="4434839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FAFC"/>
                </a:solidFill>
                <a:latin typeface="Calibri"/>
              </a:defRPr>
            </a:pPr>
            <a:r>
              <a:t>SQL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2240" y="4736591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Queries &amp; analytics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1000">
        <p159:morph option="byObject"/>
      </p:transition>
    </mc:Choice>
    <mc:Fallback>
      <p:transition spd="slow" advClick="0" advTm="10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C4899"/>
                </a:solidFill>
                <a:latin typeface="Calibri"/>
              </a:defRPr>
            </a:pPr>
            <a:r>
              <a:t>SalesDB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Three-Tier Client-Server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371600" cy="254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7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8229600" cy="11887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63500" cy="1188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103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Calibri"/>
              </a:defRPr>
            </a:pPr>
            <a:r>
              <a:t>🖥️  PRESENTATION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10312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Browser renders HTML/CSS/JS</a:t>
            </a:r>
            <a:br/>
            <a:r>
              <a:t>User interacts with forms &amp; charts</a:t>
            </a:r>
            <a:br/>
            <a:r>
              <a:t>Fetch API sends async HTTP requests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2004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BBF24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74720"/>
            <a:ext cx="8229600" cy="11887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3474720"/>
            <a:ext cx="63500" cy="11887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3566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C4899"/>
                </a:solidFill>
                <a:latin typeface="Calibri"/>
              </a:defRPr>
            </a:pPr>
            <a:r>
              <a:t>⚙️  APPLICATION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56616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Flask receives HTTP requests</a:t>
            </a:r>
            <a:br/>
            <a:r>
              <a:t>Validates input &amp; business logic</a:t>
            </a:r>
            <a:br/>
            <a:r>
              <a:t>psycopg2 communicates with DB</a:t>
            </a:r>
            <a:br/>
            <a:r>
              <a:t>Returns JSON responses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46634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BBF24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937760"/>
            <a:ext cx="8229600" cy="11887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DD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4937760"/>
            <a:ext cx="63500" cy="118872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5029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DDC84"/>
                </a:solidFill>
                <a:latin typeface="Calibri"/>
              </a:defRPr>
            </a:pPr>
            <a:r>
              <a:t>🗄️  DATA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502920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PostgreSQL stores all data</a:t>
            </a:r>
            <a:br/>
            <a:r>
              <a:t>3 tables: customer_dim, product_dim, sales_fact</a:t>
            </a:r>
            <a:br/>
            <a:r>
              <a:t>Foreign keys ensure integrity</a:t>
            </a:r>
            <a:br/>
            <a:r>
              <a:t>CASCADE delete rules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1000">
        <p159:morph option="byObject"/>
      </p:transition>
    </mc:Choice>
    <mc:Fallback>
      <p:transition spd="slow" advClick="0" advTm="10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C4899"/>
                </a:solidFill>
                <a:latin typeface="Calibri"/>
              </a:defRPr>
            </a:pPr>
            <a:r>
              <a:t>SalesDB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  <a:latin typeface="Calibri"/>
              </a:defRPr>
            </a:pPr>
            <a:r>
              <a:t>Database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Star Schema — Entity Relationship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371600" cy="254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8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103120"/>
            <a:ext cx="2743200" cy="34747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74320" y="2103120"/>
            <a:ext cx="2743200" cy="457200"/>
          </a:xfrm>
          <a:prstGeom prst="roundRect">
            <a:avLst>
              <a:gd name="adj" fmla="val 5000"/>
            </a:avLst>
          </a:prstGeom>
          <a:solidFill>
            <a:srgbClr val="3B82F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1488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8FAFC"/>
                </a:solidFill>
                <a:latin typeface="Calibri"/>
              </a:defRPr>
            </a:pPr>
            <a:r>
              <a:t>CUSTOMER_DIM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651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BBF24"/>
                </a:solidFill>
                <a:latin typeface="Consolas"/>
              </a:defRPr>
            </a:pPr>
            <a:r>
              <a:t>PK  customer_id   SERIAL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9718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     first_name     VARCHAR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29183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     last_name      VARCHAR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61187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     city              VARCHAR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9319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     mobile_no      VARCHAR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2519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     email            VARCHAR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572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     region           VARCHAR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8920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     member_type  VARCHAR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74720" y="2103120"/>
            <a:ext cx="2560320" cy="2926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474720" y="2103120"/>
            <a:ext cx="2560320" cy="457200"/>
          </a:xfrm>
          <a:prstGeom prst="roundRect">
            <a:avLst>
              <a:gd name="adj" fmla="val 5000"/>
            </a:avLst>
          </a:prstGeom>
          <a:solidFill>
            <a:srgbClr val="EC4899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66160" y="21488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8FAFC"/>
                </a:solidFill>
                <a:latin typeface="Calibri"/>
              </a:defRPr>
            </a:pPr>
            <a:r>
              <a:t>SALES_FACT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26517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BBF24"/>
                </a:solidFill>
                <a:latin typeface="Consolas"/>
              </a:defRPr>
            </a:pPr>
            <a:r>
              <a:t>PK  sale_id          SERIAL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29718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43F5E"/>
                </a:solidFill>
                <a:latin typeface="Consolas"/>
              </a:defRPr>
            </a:pPr>
            <a:r>
              <a:t>FK  customer_id   INTEGER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29183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43F5E"/>
                </a:solidFill>
                <a:latin typeface="Consolas"/>
              </a:defRPr>
            </a:pPr>
            <a:r>
              <a:t>FK  product_id     INTEGER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361187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     sale_date       DATE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39319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     quantity         INTEGER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42519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     sale_amount   NUMERIC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92240" y="2103120"/>
            <a:ext cx="2377440" cy="2286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492240" y="2103120"/>
            <a:ext cx="2377440" cy="457200"/>
          </a:xfrm>
          <a:prstGeom prst="roundRect">
            <a:avLst>
              <a:gd name="adj" fmla="val 5000"/>
            </a:avLst>
          </a:prstGeom>
          <a:solidFill>
            <a:srgbClr val="A855F7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83680" y="21488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8FAFC"/>
                </a:solidFill>
                <a:latin typeface="Calibri"/>
              </a:defRPr>
            </a:pPr>
            <a:r>
              <a:t>PRODUCT_DIM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26517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BBF24"/>
                </a:solidFill>
                <a:latin typeface="Consolas"/>
              </a:defRPr>
            </a:pPr>
            <a:r>
              <a:t>PK  product_id     SERIAL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29718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     product_name VARCHAR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3291839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     category        VARCHAR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3611879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     unit_price      NUMERIC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60320" y="32004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1 : N  ──►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0" y="32004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855F7"/>
                </a:solidFill>
                <a:latin typeface="Calibri"/>
              </a:defRPr>
            </a:pPr>
            <a:r>
              <a:t>◄──  1 : 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4320" y="5760720"/>
            <a:ext cx="8595360" cy="640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7200" y="5852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BBF24"/>
                </a:solidFill>
                <a:latin typeface="Calibri"/>
              </a:defRPr>
            </a:pPr>
            <a:r>
              <a:t>🟡 PK = Primary Key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5852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43F5E"/>
                </a:solidFill>
                <a:latin typeface="Calibri"/>
              </a:defRPr>
            </a:pPr>
            <a:r>
              <a:t>🔴 FK = Foreign Key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0" y="5852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CASCADE delete maintains referential integrity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1000">
        <p159:morph option="byObject"/>
      </p:transition>
    </mc:Choice>
    <mc:Fallback>
      <p:transition spd="slow" advClick="0" advTm="10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C4899"/>
                </a:solidFill>
                <a:latin typeface="Calibri"/>
              </a:defRPr>
            </a:pPr>
            <a:r>
              <a:t>SalesDB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  <a:latin typeface="Calibri"/>
              </a:defRPr>
            </a:pPr>
            <a:r>
              <a:t>Key Features —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Real-time Analytics &amp; Visualization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371600" cy="254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9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011680"/>
            <a:ext cx="1600200" cy="8229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2011680"/>
            <a:ext cx="1600200" cy="381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210312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4A3B8"/>
                </a:solidFill>
                <a:latin typeface="Calibri"/>
              </a:defRPr>
            </a:pPr>
            <a:r>
              <a:t>TOTAL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33172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  <a:latin typeface="Calibri"/>
              </a:defRPr>
            </a:pPr>
            <a:r>
              <a:t>$100,000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29967" y="2011680"/>
            <a:ext cx="1600200" cy="8229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029967" y="2011680"/>
            <a:ext cx="16002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167127" y="210312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4A3B8"/>
                </a:solidFill>
                <a:latin typeface="Calibri"/>
              </a:defRPr>
            </a:pPr>
            <a:r>
              <a:t>TOTAL SALES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67127" y="233172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  <a:latin typeface="Calibri"/>
              </a:defRPr>
            </a:pPr>
            <a:r>
              <a:t>245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85615" y="2011680"/>
            <a:ext cx="1600200" cy="8229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785615" y="2011680"/>
            <a:ext cx="1600200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922775" y="210312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4A3B8"/>
                </a:solidFill>
                <a:latin typeface="Calibri"/>
              </a:defRPr>
            </a:pPr>
            <a:r>
              <a:t>AVG ORDER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22775" y="233172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  <a:latin typeface="Calibri"/>
              </a:defRPr>
            </a:pPr>
            <a:r>
              <a:t>$408.16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41264" y="2011680"/>
            <a:ext cx="1600200" cy="8229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541264" y="2011680"/>
            <a:ext cx="1600200" cy="381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78424" y="210312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4A3B8"/>
                </a:solidFill>
                <a:latin typeface="Calibri"/>
              </a:defRPr>
            </a:pPr>
            <a:r>
              <a:t>CUSTOMERS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78424" y="233172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  <a:latin typeface="Calibri"/>
              </a:defRPr>
            </a:pPr>
            <a:r>
              <a:t>48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96912" y="2011680"/>
            <a:ext cx="1600200" cy="8229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296912" y="2011680"/>
            <a:ext cx="1600200" cy="3810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34072" y="210312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4A3B8"/>
                </a:solidFill>
                <a:latin typeface="Calibri"/>
              </a:defRPr>
            </a:pPr>
            <a:r>
              <a:t>PRODUCTS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34072" y="233172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" y="3200400"/>
            <a:ext cx="2743200" cy="2926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74320" y="3200400"/>
            <a:ext cx="2743200" cy="381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11480" y="33375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C4899"/>
                </a:solidFill>
                <a:latin typeface="Calibri"/>
              </a:defRPr>
            </a:pPr>
            <a:r>
              <a:t>📊  Bar Chart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3749040"/>
            <a:ext cx="2468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Revenue by Category</a:t>
            </a:r>
            <a:br/>
            <a:r>
              <a:t>Compares sales across</a:t>
            </a:r>
            <a:br/>
            <a:r>
              <a:t>Electronics, Home Goods,</a:t>
            </a:r>
            <a:br/>
            <a:r>
              <a:t>Apparel, Other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00400" y="3200400"/>
            <a:ext cx="2743200" cy="2926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200400" y="3200400"/>
            <a:ext cx="27432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337560" y="33375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🍩  Doughnut Chart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37560" y="3749040"/>
            <a:ext cx="2468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Sales Distribution</a:t>
            </a:r>
            <a:br/>
            <a:r>
              <a:t>Shows percentage share</a:t>
            </a:r>
            <a:br/>
            <a:r>
              <a:t>of each product category</a:t>
            </a:r>
            <a:br/>
            <a:r>
              <a:t>in total revenue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26480" y="3200400"/>
            <a:ext cx="2743200" cy="2926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DD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126480" y="3200400"/>
            <a:ext cx="2743200" cy="3810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263640" y="33375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DDC84"/>
                </a:solidFill>
                <a:latin typeface="Calibri"/>
              </a:defRPr>
            </a:pPr>
            <a:r>
              <a:t>🥧  Pie Chart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3749040"/>
            <a:ext cx="2468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Customer Segments</a:t>
            </a:r>
            <a:br/>
            <a:r>
              <a:t>Gold vs Regular members</a:t>
            </a:r>
            <a:br/>
            <a:r>
              <a:t>Based on member_type</a:t>
            </a:r>
            <a:br/>
            <a:r>
              <a:t>field in customer_dim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1000">
        <p159:morph option="byObject"/>
      </p:transition>
    </mc:Choice>
    <mc:Fallback>
      <p:transition spd="slow" advClick="0" advTm="100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C4899"/>
                </a:solidFill>
                <a:latin typeface="Calibri"/>
              </a:defRPr>
            </a:pPr>
            <a:r>
              <a:t>SalesDB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  <a:latin typeface="Calibri"/>
              </a:defRPr>
            </a:pPr>
            <a:r>
              <a:t>Key Features — CRUD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Create, Read, Update, Delete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371600" cy="254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10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01168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DD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2011680"/>
            <a:ext cx="2011680" cy="3810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2148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DDC84"/>
                </a:solidFill>
                <a:latin typeface="Calibri"/>
              </a:defRPr>
            </a:pPr>
            <a:r>
              <a:t>CREATE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06040"/>
            <a:ext cx="1097280" cy="320040"/>
          </a:xfrm>
          <a:prstGeom prst="roundRect">
            <a:avLst>
              <a:gd name="adj" fmla="val 5000"/>
            </a:avLst>
          </a:prstGeom>
          <a:solidFill>
            <a:srgbClr val="3DDC84"/>
          </a:solidFill>
          <a:ln w="12700">
            <a:solidFill>
              <a:srgbClr val="3DD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63347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8FAFC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200400"/>
            <a:ext cx="1737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Add new records</a:t>
            </a:r>
            <a:br/>
            <a:r>
              <a:t>Form validation</a:t>
            </a:r>
            <a:br/>
            <a:r>
              <a:t>Auto-generated IDs</a:t>
            </a:r>
            <a:br/>
            <a:r>
              <a:t>Toast confirmation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68879" y="201168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468879" y="2011680"/>
            <a:ext cx="201168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560319" y="2148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B82F6"/>
                </a:solidFill>
                <a:latin typeface="Calibri"/>
              </a:defRPr>
            </a:pPr>
            <a:r>
              <a:t>READ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79" y="2606040"/>
            <a:ext cx="1097280" cy="320040"/>
          </a:xfrm>
          <a:prstGeom prst="roundRect">
            <a:avLst>
              <a:gd name="adj" fmla="val 5000"/>
            </a:avLst>
          </a:prstGeom>
          <a:solidFill>
            <a:srgbClr val="3B82F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926079" y="263347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8FAFC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39" y="3200400"/>
            <a:ext cx="1737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List all records</a:t>
            </a:r>
            <a:br/>
            <a:r>
              <a:t>Formatted tables</a:t>
            </a:r>
            <a:br/>
            <a:r>
              <a:t>Badges for categories</a:t>
            </a:r>
            <a:br/>
            <a:r>
              <a:t>Real-time refresh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63440" y="201168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663440" y="2011680"/>
            <a:ext cx="2011680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54880" y="2148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BBF24"/>
                </a:solidFill>
                <a:latin typeface="Calibri"/>
              </a:defRPr>
            </a:pPr>
            <a:r>
              <a:t>UPDATE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20640" y="2606040"/>
            <a:ext cx="1097280" cy="320040"/>
          </a:xfrm>
          <a:prstGeom prst="roundRect">
            <a:avLst>
              <a:gd name="adj" fmla="val 5000"/>
            </a:avLst>
          </a:prstGeom>
          <a:solidFill>
            <a:srgbClr val="FBBF2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120640" y="263347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Calibri"/>
              </a:defRPr>
            </a:pPr>
            <a:r>
              <a:t>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3200400"/>
            <a:ext cx="1737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Edit existing records</a:t>
            </a:r>
            <a:br/>
            <a:r>
              <a:t>Form pre-fills data</a:t>
            </a:r>
            <a:br/>
            <a:r>
              <a:t>Blue highlight mode</a:t>
            </a:r>
            <a:br/>
            <a:r>
              <a:t>Cancel button available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7999" y="2011680"/>
            <a:ext cx="2011680" cy="4114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857999" y="2011680"/>
            <a:ext cx="2011680" cy="381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949439" y="2148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43F5E"/>
                </a:solidFill>
                <a:latin typeface="Calibri"/>
              </a:defRPr>
            </a:pPr>
            <a:r>
              <a:t>DELETE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199" y="2606040"/>
            <a:ext cx="1097280" cy="320040"/>
          </a:xfrm>
          <a:prstGeom prst="roundRect">
            <a:avLst>
              <a:gd name="adj" fmla="val 5000"/>
            </a:avLst>
          </a:prstGeom>
          <a:solidFill>
            <a:srgbClr val="F43F5E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15199" y="263347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8FAFC"/>
                </a:solidFill>
                <a:latin typeface="Calibri"/>
              </a:defRPr>
            </a:pPr>
            <a:r>
              <a:t>DELETE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5159" y="3200400"/>
            <a:ext cx="1737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Remove records</a:t>
            </a:r>
            <a:br/>
            <a:r>
              <a:t>Confirmation dialog</a:t>
            </a:r>
            <a:br/>
            <a:r>
              <a:t>Cascade deletes</a:t>
            </a:r>
            <a:br/>
            <a:r>
              <a:t>UI auto-updates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" y="6217920"/>
            <a:ext cx="8595360" cy="457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" y="62636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Applied to:  👥 Customers (7 fields)   |   📦 Products (3 fields + price)   |   💰 Sales (auto-calculated)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1000">
        <p159:morph option="byObject"/>
      </p:transition>
    </mc:Choice>
    <mc:Fallback>
      <p:transition spd="slow" advClick="0" advTm="100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C4899"/>
                </a:solidFill>
                <a:latin typeface="Calibri"/>
              </a:defRPr>
            </a:pPr>
            <a:r>
              <a:t>SalesDB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  <a:latin typeface="Calibri"/>
              </a:defRPr>
            </a:pPr>
            <a:r>
              <a:t>Data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How data moves through the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371600" cy="254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11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" y="2286000"/>
            <a:ext cx="1645920" cy="2743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82880" y="2286000"/>
            <a:ext cx="164592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24231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B82F6"/>
                </a:solidFill>
                <a:latin typeface="Calibri"/>
              </a:defRPr>
            </a:pPr>
            <a:r>
              <a:t>🖱️ 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9260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Calibri"/>
              </a:defRPr>
            </a:pPr>
            <a:r>
              <a:t>User 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38328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User fills form in browser</a:t>
            </a:r>
            <a:br/>
            <a:r>
              <a:t>(Add/Edit/Delete)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2004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65960" y="2286000"/>
            <a:ext cx="1645920" cy="2743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965960" y="2286000"/>
            <a:ext cx="1645920" cy="381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057400" y="24231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C4899"/>
                </a:solidFill>
                <a:latin typeface="Calibri"/>
              </a:defRPr>
            </a:pPr>
            <a:r>
              <a:t>📡 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29260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Calibri"/>
              </a:defRPr>
            </a:pPr>
            <a:r>
              <a:t>API Request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338328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JavaScript sends HTTP request</a:t>
            </a:r>
            <a:br/>
            <a:r>
              <a:t>(POST/PUT/DELETE + JSON)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2004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49039" y="2286000"/>
            <a:ext cx="1645920" cy="2743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749039" y="2286000"/>
            <a:ext cx="1645920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840479" y="24231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A855F7"/>
                </a:solidFill>
                <a:latin typeface="Calibri"/>
              </a:defRPr>
            </a:pPr>
            <a:r>
              <a:t>⚙️ 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79" y="29260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Calibri"/>
              </a:defRPr>
            </a:pPr>
            <a:r>
              <a:t>Flask Processing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79" y="338328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Validates input data</a:t>
            </a:r>
            <a:br/>
            <a:r>
              <a:t>Executes business logic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39" y="32004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532120" y="2286000"/>
            <a:ext cx="1645920" cy="2743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DD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532120" y="2286000"/>
            <a:ext cx="1645920" cy="3810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23560" y="24231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DDC84"/>
                </a:solidFill>
                <a:latin typeface="Calibri"/>
              </a:defRPr>
            </a:pPr>
            <a:r>
              <a:t>🗄️ 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23560" y="29260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Calibri"/>
              </a:defRPr>
            </a:pPr>
            <a:r>
              <a:t>Database Operation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23560" y="338328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SQL query executes</a:t>
            </a:r>
            <a:br/>
            <a:r>
              <a:t>(INSERT/UPDATE/DELETE)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32004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0" y="2286000"/>
            <a:ext cx="1645920" cy="2743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315200" y="2286000"/>
            <a:ext cx="1645920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406640" y="24231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BBF24"/>
                </a:solidFill>
                <a:latin typeface="Calibri"/>
              </a:defRPr>
            </a:pPr>
            <a:r>
              <a:t>✅  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29260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Calibri"/>
              </a:defRPr>
            </a:pPr>
            <a:r>
              <a:t>Response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6640" y="338328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JSON result returned</a:t>
            </a:r>
            <a:br/>
            <a:r>
              <a:t>UI updates + toast shown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4320" y="5303520"/>
            <a:ext cx="8595360" cy="10972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7200" y="5394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C4899"/>
                </a:solidFill>
                <a:latin typeface="Calibri"/>
              </a:defRPr>
            </a:pPr>
            <a:r>
              <a:t>EXAMPLE: Adding a Sale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7150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User selects "Laptop Pro" ($999.99) × Qty 3  →  JS auto-calculates $2,999.97  →  POST /api/sales  →  INSERT INTO sales_fact  →  Returns sale_id  →  Table &amp; KPIs refresh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1000">
        <p159:morph option="byObject"/>
      </p:transition>
    </mc:Choice>
    <mc:Fallback>
      <p:transition spd="slow" advClick="0" advTm="100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C4899"/>
                </a:solidFill>
                <a:latin typeface="Calibri"/>
              </a:defRPr>
            </a:pPr>
            <a:r>
              <a:t>SalesDB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  <a:latin typeface="Calibri"/>
              </a:defRPr>
            </a:pPr>
            <a:r>
              <a:t>Auto-Calculation Feature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Smart Sale Amount Computation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371600" cy="254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12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2103120"/>
            <a:ext cx="6400800" cy="10972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54480" y="224028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C4899"/>
                </a:solidFill>
                <a:latin typeface="Calibri"/>
              </a:defRPr>
            </a:pPr>
            <a:r>
              <a:t>FORMULA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60604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8FAFC"/>
                </a:solidFill>
                <a:latin typeface="Calibri"/>
              </a:defRPr>
            </a:pPr>
            <a:r>
              <a:t>Total Amount  =  Unit Price  ×  Quantity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474720"/>
            <a:ext cx="1097280" cy="457200"/>
          </a:xfrm>
          <a:prstGeom prst="roundRect">
            <a:avLst>
              <a:gd name="adj" fmla="val 5000"/>
            </a:avLst>
          </a:prstGeom>
          <a:solidFill>
            <a:srgbClr val="3B82F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3520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Calibri"/>
              </a:defRPr>
            </a:pPr>
            <a:r>
              <a:t>Step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5204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Product dropdown includes unit_price as data-price attribute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069080"/>
            <a:ext cx="1097280" cy="457200"/>
          </a:xfrm>
          <a:prstGeom prst="roundRect">
            <a:avLst>
              <a:gd name="adj" fmla="val 5000"/>
            </a:avLst>
          </a:prstGeom>
          <a:solidFill>
            <a:srgbClr val="A855F7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4114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Calibri"/>
              </a:defRPr>
            </a:pPr>
            <a:r>
              <a:t>Step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1148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When user selects a product, JS reads the data-price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663440"/>
            <a:ext cx="1097280" cy="457200"/>
          </a:xfrm>
          <a:prstGeom prst="roundRect">
            <a:avLst>
              <a:gd name="adj" fmla="val 5000"/>
            </a:avLst>
          </a:prstGeom>
          <a:solidFill>
            <a:srgbClr val="3DDC84"/>
          </a:solidFill>
          <a:ln w="12700">
            <a:solidFill>
              <a:srgbClr val="3DD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4709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Calibri"/>
              </a:defRPr>
            </a:pPr>
            <a:r>
              <a:t>Step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7091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When user changes quantity, calcSaleAmount() fires automatically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257800"/>
            <a:ext cx="1097280" cy="457200"/>
          </a:xfrm>
          <a:prstGeom prst="roundRect">
            <a:avLst>
              <a:gd name="adj" fmla="val 5000"/>
            </a:avLst>
          </a:prstGeom>
          <a:solidFill>
            <a:srgbClr val="EC4899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5303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Calibri"/>
              </a:defRPr>
            </a:pPr>
            <a:r>
              <a:t>Step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53035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Amount field (read-only) updates instantly: price × quantity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852160"/>
            <a:ext cx="1097280" cy="457200"/>
          </a:xfrm>
          <a:prstGeom prst="roundRect">
            <a:avLst>
              <a:gd name="adj" fmla="val 5000"/>
            </a:avLst>
          </a:prstGeom>
          <a:solidFill>
            <a:srgbClr val="FBBF2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58978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Step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58978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The calculated amount is sent to API in the POST request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1000">
        <p159:morph option="byObject"/>
      </p:transition>
    </mc:Choice>
    <mc:Fallback>
      <p:transition spd="slow" advClick="0" advTm="100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C4899"/>
                </a:solidFill>
                <a:latin typeface="Calibri"/>
              </a:defRPr>
            </a:pPr>
            <a:r>
              <a:t>SalesDB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  <a:latin typeface="Calibri"/>
              </a:defRPr>
            </a:pPr>
            <a:r>
              <a:t>Advantages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Why SalesDB stands out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371600" cy="254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13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011680"/>
            <a:ext cx="4206240" cy="914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2011680"/>
            <a:ext cx="50800" cy="9144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0574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C4899"/>
                </a:solidFill>
                <a:latin typeface="Calibri"/>
              </a:defRPr>
            </a:pPr>
            <a:r>
              <a:t>⚡  Real-time Analytics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4231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Dashboard updates instantly when data changes — no manual refresh needed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59" y="2011680"/>
            <a:ext cx="4206240" cy="914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709159" y="2011680"/>
            <a:ext cx="50800" cy="914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92039" y="20574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Calibri"/>
              </a:defRPr>
            </a:pPr>
            <a:r>
              <a:t>🔒  Data Integrity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39" y="24231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Foreign keys with CASCADE delete ensure consistent, clean data at all times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3154680"/>
            <a:ext cx="4206240" cy="914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74320" y="3154680"/>
            <a:ext cx="50800" cy="91440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32004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DDC84"/>
                </a:solidFill>
                <a:latin typeface="Calibri"/>
              </a:defRPr>
            </a:pPr>
            <a:r>
              <a:t>💰  Auto-Calculation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5661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Eliminates manual errors by computing sale amounts automatically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09159" y="3154680"/>
            <a:ext cx="4206240" cy="914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709159" y="3154680"/>
            <a:ext cx="50800" cy="9144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92039" y="32004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55F7"/>
                </a:solidFill>
                <a:latin typeface="Calibri"/>
              </a:defRPr>
            </a:pPr>
            <a:r>
              <a:t>🎨  Modern UI/UX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39" y="35661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Professional dark-blue theme with animations, badges, and toast notifications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4297680"/>
            <a:ext cx="4206240" cy="914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74320" y="4297680"/>
            <a:ext cx="50800" cy="9144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43434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Calibri"/>
              </a:defRPr>
            </a:pPr>
            <a:r>
              <a:t>🔌  RESTful 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7091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Clean separation of frontend and backend — can be extended with mobile apps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09159" y="4297680"/>
            <a:ext cx="4206240" cy="914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709159" y="4297680"/>
            <a:ext cx="50800" cy="9144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892039" y="43434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3F5E"/>
                </a:solidFill>
                <a:latin typeface="Calibri"/>
              </a:defRPr>
            </a:pPr>
            <a:r>
              <a:t>📦  Easy Deployment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92039" y="47091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Single command setup — python app.py starts everything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" y="5440680"/>
            <a:ext cx="4206240" cy="914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74320" y="5440680"/>
            <a:ext cx="50800" cy="914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54864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Calibri"/>
              </a:defRPr>
            </a:pPr>
            <a:r>
              <a:t>🆓  100% Open Source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8521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All technologies are free — no licensing costs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09159" y="5440680"/>
            <a:ext cx="4206240" cy="914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709159" y="5440680"/>
            <a:ext cx="50800" cy="9144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892039" y="54864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C4899"/>
                </a:solidFill>
                <a:latin typeface="Calibri"/>
              </a:defRPr>
            </a:pPr>
            <a:r>
              <a:t>📱  Responsive Design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92039" y="58521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Works on desktop, tablet, and mobile screen sizes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1000">
        <p159:morph option="byObject"/>
      </p:transition>
    </mc:Choice>
    <mc:Fallback>
      <p:transition spd="slow" advClick="0" advTm="100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C4899"/>
                </a:solidFill>
                <a:latin typeface="Calibri"/>
              </a:defRPr>
            </a:pPr>
            <a:r>
              <a:t>SalesDB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Project Summary &amp; Achievements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371600" cy="254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14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8229600" cy="1371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DD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8229600" cy="3810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DDC84"/>
                </a:solidFill>
                <a:latin typeface="Calibri"/>
              </a:defRPr>
            </a:pPr>
            <a:r>
              <a:t>✅  PROJECT ACHIEVEMENTS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68880"/>
            <a:ext cx="7863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SalesDB has been successfully designed, developed, and tested as a comprehensive full-stack web application. All 8 project objectives have been achieved with 100% test pass rate across 21 test cases covering all modules.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3657600"/>
            <a:ext cx="1600200" cy="8229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3703320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C4899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11480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Modules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29967" y="3657600"/>
            <a:ext cx="1600200" cy="8229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21407" y="3703320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B82F6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21407" y="411480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API Endpoints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85615" y="3657600"/>
            <a:ext cx="1600200" cy="8229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77055" y="3703320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A855F7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77055" y="411480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DB Tables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541264" y="3657600"/>
            <a:ext cx="1600200" cy="8229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DD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32704" y="3703320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DDC84"/>
                </a:solidFill>
                <a:latin typeface="Calibri"/>
              </a:defRPr>
            </a:pPr>
            <a:r>
              <a:t>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32704" y="411480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Test Cases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96912" y="3657600"/>
            <a:ext cx="1600200" cy="8229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88352" y="3703320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BBF24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88352" y="411480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Pass Rate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754880"/>
            <a:ext cx="8229600" cy="1645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7200" y="4754880"/>
            <a:ext cx="82296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489204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Calibri"/>
              </a:defRPr>
            </a:pPr>
            <a:r>
              <a:t>🚀  FUTURE ENHANCEMENTS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2578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▸  User Authentication (Login/Roles)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5778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▸  Advanced Analytics &amp; Forecasting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8978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▸  CSV/Excel Import &amp; Export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52578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▸  Cloud Deployment (AWS/Heroku)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55778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▸  Mobile App (React Native)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58978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▸  Invoice PDF Generation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1000">
        <p159:morph option="byObject"/>
      </p:transition>
    </mc:Choice>
    <mc:Fallback>
      <p:transition spd="slow" advClick="0" advTm="100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35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9144000" cy="635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C4899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B82F6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3017520"/>
            <a:ext cx="2743200" cy="254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286000" y="3657600"/>
            <a:ext cx="4572000" cy="2286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286000" y="3657600"/>
            <a:ext cx="4572000" cy="381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560320" y="393192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📧  Email: [your.email@example.com]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438912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📱  Phone: [Your Phone Number]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484632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🌐  Demo: http://localhost:5000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530352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💻  Tech: Flask + PostgreSQL + Chart.js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126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SalesDB — Sales Analytics Dashboard  |  [Your Name]  |  2024-2025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15 / 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1000">
        <p159:morph option="byObject"/>
      </p:transition>
    </mc:Choice>
    <mc:Fallback>
      <p:transition spd="slow" advClick="0" advTm="100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1329</Words>
  <Application>Microsoft Office PowerPoint</Application>
  <PresentationFormat>On-screen Show (4:3)</PresentationFormat>
  <Paragraphs>282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ABHIJIT SAHOO</cp:lastModifiedBy>
  <cp:revision>3</cp:revision>
  <dcterms:created xsi:type="dcterms:W3CDTF">2013-01-27T09:14:16Z</dcterms:created>
  <dcterms:modified xsi:type="dcterms:W3CDTF">2026-03-25T02:27:54Z</dcterms:modified>
  <cp:category/>
</cp:coreProperties>
</file>