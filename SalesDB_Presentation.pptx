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20000" t="1000" r="-10000" b="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9144000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9361" y="396280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  <a:latin typeface="Times New Roman"/>
              </a:defRPr>
            </a:pPr>
            <a:r>
              <a:rPr lang="en-US" sz="3600" dirty="0"/>
              <a:t>Retail </a:t>
            </a:r>
            <a:r>
              <a:rPr sz="3600" dirty="0"/>
              <a:t>Sales</a:t>
            </a:r>
            <a:r>
              <a:rPr lang="en-US" sz="3600" dirty="0"/>
              <a:t> Data Analysis</a:t>
            </a:r>
            <a:r>
              <a:rPr sz="3600" dirty="0"/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0271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Times New Roman"/>
              </a:defRPr>
            </a:pPr>
            <a:r>
              <a:rPr dirty="0"/>
              <a:t>A Full-Stack Web Application with Real-Time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21892" y="1855448"/>
            <a:ext cx="4536108" cy="1723419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03336" y="1869603"/>
            <a:ext cx="4173219" cy="299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4155"/>
                </a:solidFill>
                <a:latin typeface="Times New Roman"/>
              </a:defRPr>
            </a:pPr>
            <a:r>
              <a:rPr dirty="0"/>
              <a:t>Presented by:  </a:t>
            </a:r>
            <a:r>
              <a:rPr lang="en-US" dirty="0"/>
              <a:t>Barsha Priyadarshini Parida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2503336" y="2211578"/>
            <a:ext cx="4173219" cy="299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4155"/>
                </a:solidFill>
                <a:latin typeface="Times New Roman"/>
              </a:defRPr>
            </a:pPr>
            <a:r>
              <a:rPr dirty="0"/>
              <a:t>Roll No:  </a:t>
            </a:r>
            <a:r>
              <a:rPr lang="en-US" dirty="0"/>
              <a:t>24MC034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2503336" y="2553552"/>
            <a:ext cx="4173219" cy="299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4155"/>
                </a:solidFill>
                <a:latin typeface="Times New Roman"/>
              </a:defRPr>
            </a:pPr>
            <a:r>
              <a:rPr dirty="0"/>
              <a:t>Department:  </a:t>
            </a:r>
            <a:r>
              <a:rPr lang="en-US" dirty="0"/>
              <a:t>MCA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777240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1/15</a:t>
            </a:r>
          </a:p>
        </p:txBody>
      </p:sp>
      <p:pic>
        <p:nvPicPr>
          <p:cNvPr id="17" name="Picture 2" descr="GITA Bhubaneswar - YouTube">
            <a:extLst>
              <a:ext uri="{FF2B5EF4-FFF2-40B4-BE49-F238E27FC236}">
                <a16:creationId xmlns:a16="http://schemas.microsoft.com/office/drawing/2014/main" id="{7313D9BE-0197-C152-37FC-72916A617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320" y="5051506"/>
            <a:ext cx="1071282" cy="1071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46FF793-5504-5538-0E34-B451E9D27C6B}"/>
              </a:ext>
            </a:extLst>
          </p:cNvPr>
          <p:cNvSpPr txBox="1"/>
          <p:nvPr/>
        </p:nvSpPr>
        <p:spPr>
          <a:xfrm>
            <a:off x="-410498" y="6137175"/>
            <a:ext cx="10434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DEPARTMENT OF MCA</a:t>
            </a:r>
          </a:p>
          <a:p>
            <a:pPr algn="ctr"/>
            <a:r>
              <a:rPr lang="en-US" b="1" dirty="0">
                <a:solidFill>
                  <a:srgbClr val="002060"/>
                </a:solidFill>
              </a:rPr>
              <a:t>GITA AUOTONOMOUS COLEGE,BHUBANESWAR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FE58CC-726A-8B72-D43F-CAF9A30B6A87}"/>
              </a:ext>
            </a:extLst>
          </p:cNvPr>
          <p:cNvSpPr txBox="1"/>
          <p:nvPr/>
        </p:nvSpPr>
        <p:spPr>
          <a:xfrm>
            <a:off x="2321892" y="4113789"/>
            <a:ext cx="49701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Internal Faculty Name</a:t>
            </a:r>
          </a:p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Prof. Prangya Paramita Mohapatra</a:t>
            </a:r>
          </a:p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Assistant Professor(MCA)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Times New Roman"/>
              </a:defRPr>
            </a:pPr>
            <a:r>
              <a:t>Content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Times New Roman"/>
              </a:defRPr>
            </a:pPr>
            <a:r>
              <a:t>Table of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64592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2/15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Times New Roman"/>
              </a:defRPr>
            </a:pPr>
            <a: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6459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imes New Roman"/>
              </a:defRPr>
            </a:pPr>
            <a: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645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7280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1938528"/>
            <a:ext cx="713232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99339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99339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imes New Roman"/>
              </a:defRPr>
            </a:pPr>
            <a:r>
              <a:t>Objective of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99339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7280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2286000"/>
            <a:ext cx="713232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3408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Times New Roman"/>
              </a:defRPr>
            </a:pPr>
            <a: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34086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imes New Roman"/>
              </a:defRPr>
            </a:pPr>
            <a:r>
              <a:t>Technologies Used (Frontend &amp; Backend)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34086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7280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0160" y="2633472"/>
            <a:ext cx="713232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268833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t>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688336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imes New Roman"/>
              </a:defRPr>
            </a:pPr>
            <a:r>
              <a:t>Specification Requirement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68833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7280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0160" y="2980944"/>
            <a:ext cx="713232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03580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Times New Roman"/>
              </a:defRPr>
            </a:pPr>
            <a:r>
              <a:t>5.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03580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imes New Roman"/>
              </a:defRPr>
            </a:pPr>
            <a:r>
              <a:t>Project Flow Diagram — ER Diagram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0358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7280"/>
                </a:solidFill>
                <a:latin typeface="Times New Roman"/>
              </a:defRPr>
            </a:pPr>
            <a:r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3328416"/>
            <a:ext cx="713232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33832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t>6.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33832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imes New Roman"/>
              </a:defRPr>
            </a:pPr>
            <a:r>
              <a:t>Project Flow Diagram — DFD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3832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7280"/>
                </a:solidFill>
                <a:latin typeface="Times New Roman"/>
              </a:defRPr>
            </a:pPr>
            <a: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80160" y="3675888"/>
            <a:ext cx="713232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37307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Times New Roman"/>
              </a:defRPr>
            </a:pPr>
            <a:r>
              <a:t>7.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73075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imes New Roman"/>
              </a:defRPr>
            </a:pPr>
            <a:r>
              <a:t>Page Layout (Screenshots — Part 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7307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7280"/>
                </a:solidFill>
                <a:latin typeface="Times New Roman"/>
              </a:defRPr>
            </a:pPr>
            <a:r>
              <a:t>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80160" y="4023360"/>
            <a:ext cx="713232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407822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t>8.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407822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imes New Roman"/>
              </a:defRPr>
            </a:pPr>
            <a:r>
              <a:t>Page Layout (Screenshots — Part 2)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407822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7280"/>
                </a:solidFill>
                <a:latin typeface="Times New Roman"/>
              </a:defRPr>
            </a:pPr>
            <a:r>
              <a:t>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80160" y="4370832"/>
            <a:ext cx="713232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442569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Times New Roman"/>
              </a:defRPr>
            </a:pPr>
            <a:r>
              <a:t>9.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4425696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imes New Roman"/>
              </a:defRPr>
            </a:pPr>
            <a:r>
              <a:t>Security Applied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442569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7280"/>
                </a:solidFill>
                <a:latin typeface="Times New Roman"/>
              </a:defRPr>
            </a:pPr>
            <a:r>
              <a:t>11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80160" y="4718304"/>
            <a:ext cx="713232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1520" y="477316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t>10.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477316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imes New Roman"/>
              </a:defRPr>
            </a:pPr>
            <a:r>
              <a:t>Result Analysis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47731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7280"/>
                </a:solidFill>
                <a:latin typeface="Times New Roman"/>
              </a:defRPr>
            </a:pPr>
            <a:r>
              <a:t>12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80160" y="5065776"/>
            <a:ext cx="713232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" y="51206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Times New Roman"/>
              </a:defRPr>
            </a:pPr>
            <a:r>
              <a:t>11.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51206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51206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7280"/>
                </a:solidFill>
                <a:latin typeface="Times New Roman"/>
              </a:defRPr>
            </a:pPr>
            <a:r>
              <a:t>13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80160" y="5413248"/>
            <a:ext cx="713232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31520" y="546811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t>12.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80160" y="546811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imes New Roman"/>
              </a:defRPr>
            </a:pPr>
            <a:r>
              <a:t>Future Enhancement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546811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7280"/>
                </a:solidFill>
                <a:latin typeface="Times New Roman"/>
              </a:defRPr>
            </a:pPr>
            <a:r>
              <a:t>14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80160" y="5760720"/>
            <a:ext cx="713232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31520" y="581558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Times New Roman"/>
              </a:defRPr>
            </a:pPr>
            <a:r>
              <a:t>13.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581558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imes New Roman"/>
              </a:defRPr>
            </a:pPr>
            <a:r>
              <a:t>Bibliography / Reference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581558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7280"/>
                </a:solidFill>
                <a:latin typeface="Times New Roman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Times New Roman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Times New Roman"/>
              </a:defRPr>
            </a:pPr>
            <a:r>
              <a:t>About SalesDB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64592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3/15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19072"/>
            <a:ext cx="50800" cy="274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Times New Roman"/>
              </a:defRPr>
            </a:pPr>
            <a:r>
              <a:t>SalesDB is a full-stack web application designed for managing sales operations, customer relationships, product inventory, and invoice generation.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87752"/>
            <a:ext cx="5080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Times New Roman"/>
              </a:defRPr>
            </a:pPr>
            <a:r>
              <a:t>Built using Python Flask as backend, PostgreSQL as database, and a modern HTML/CSS/JavaScript frontend with Chart.js for interactive analytics.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56432"/>
            <a:ext cx="5080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38328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Times New Roman"/>
              </a:defRPr>
            </a:pPr>
            <a:r>
              <a:t>The system provides a real-time dashboard with KPI cards, revenue charts, and customer segmentation analysis.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25111"/>
            <a:ext cx="50800" cy="2743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251959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Times New Roman"/>
              </a:defRPr>
            </a:pPr>
            <a:r>
              <a:t>It includes 7 modules: Dashboard, Sales, Customers, Products, Invoices, Stocks, and Reports.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93792"/>
            <a:ext cx="50800" cy="274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51206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Times New Roman"/>
              </a:defRPr>
            </a:pPr>
            <a:r>
              <a:t>Admin authentication with session-based login ensures data security while keeping the dashboard publicly accessible.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Times New Roman"/>
              </a:defRPr>
            </a:pPr>
            <a:r>
              <a:t>Objective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Times New Roman"/>
              </a:defRPr>
            </a:pPr>
            <a:r>
              <a:t>Goals of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64592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4/15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Times New Roman"/>
              </a:defRPr>
            </a:pPr>
            <a:r>
              <a:t>01.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Times New Roman"/>
              </a:defRPr>
            </a:pPr>
            <a:r>
              <a:t>Design and develop a full-stack web application for sales data management.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756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Times New Roman"/>
              </a:defRPr>
            </a:pPr>
            <a:r>
              <a:t>02.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7568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Times New Roman"/>
              </a:defRPr>
            </a:pPr>
            <a:r>
              <a:t>Implement CRUD operations for Customers, Products, and Sales records.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5117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Times New Roman"/>
              </a:defRPr>
            </a:pPr>
            <a:r>
              <a:t>03.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551176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Times New Roman"/>
              </a:defRPr>
            </a:pPr>
            <a:r>
              <a:t>Create an interactive dashboard with KPIs and Chart.js visualizations.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266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Times New Roman"/>
              </a:defRPr>
            </a:pPr>
            <a:r>
              <a:t>04.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02666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Times New Roman"/>
              </a:defRPr>
            </a:pPr>
            <a:r>
              <a:t>Design a star-schema database with 5 tables (3 dimension + 2 fact).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021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Times New Roman"/>
              </a:defRPr>
            </a:pPr>
            <a:r>
              <a:t>05.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50215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Times New Roman"/>
              </a:defRPr>
            </a:pPr>
            <a:r>
              <a:t>Develop 20+ RESTful API endpoints using Python Flask.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9776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Times New Roman"/>
              </a:defRPr>
            </a:pPr>
            <a:r>
              <a:t>06.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977639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Times New Roman"/>
              </a:defRPr>
            </a:pPr>
            <a:r>
              <a:t>Implement session-based admin authentication with @login_required decorator.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Times New Roman"/>
              </a:defRPr>
            </a:pPr>
            <a:r>
              <a:t>07.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5312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Times New Roman"/>
              </a:defRPr>
            </a:pPr>
            <a:r>
              <a:t>Build a professional invoice generator with PDF export (ReportLab).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9286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Times New Roman"/>
              </a:defRPr>
            </a:pPr>
            <a:r>
              <a:t>08.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928616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Times New Roman"/>
              </a:defRPr>
            </a:pPr>
            <a:r>
              <a:t>Create real-time stock tracking with low-stock alerts and history logging.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4041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Times New Roman"/>
              </a:defRPr>
            </a:pPr>
            <a:r>
              <a:t>09.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40410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Times New Roman"/>
              </a:defRPr>
            </a:pPr>
            <a:r>
              <a:t>Develop advanced sales reports with date, category, and region filters.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795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Times New Roman"/>
              </a:defRPr>
            </a:pPr>
            <a:r>
              <a:t>10.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87959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Times New Roman"/>
              </a:defRPr>
            </a:pPr>
            <a:r>
              <a:t>Build a responsive, modern dark-themed UI with glassmorphism effects.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1910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Times New Roman"/>
              </a:defRPr>
            </a:pPr>
            <a:r>
              <a:rPr dirty="0"/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921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Times New Roman"/>
              </a:defRPr>
            </a:pPr>
            <a:r>
              <a:rPr dirty="0"/>
              <a:t>Frontend &amp; Backend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64592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5/15</a:t>
            </a:r>
          </a:p>
        </p:txBody>
      </p:sp>
      <p:pic>
        <p:nvPicPr>
          <p:cNvPr id="7" name="Picture 6" descr="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42" y="1138821"/>
            <a:ext cx="8412480" cy="407325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475488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4754880"/>
            <a:ext cx="39319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imes New Roman"/>
              </a:defRPr>
            </a:pPr>
            <a:r>
              <a:t>•  HTML5 — Structure &amp; Semantics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0468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imes New Roman"/>
              </a:defRPr>
            </a:pPr>
            <a:r>
              <a:t>•  CSS3 — Dark Theme + Glassmorphism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9729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imes New Roman"/>
              </a:defRPr>
            </a:pPr>
            <a:r>
              <a:t>•  JavaScript ES6 — DOM + Fetch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8990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imes New Roman"/>
              </a:defRPr>
            </a:pPr>
            <a:r>
              <a:t>•  Chart.js 4.x — Interactive Charts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75488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54880" y="4754880"/>
            <a:ext cx="39319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0" y="48463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Times New Roman"/>
              </a:defRPr>
            </a:pPr>
            <a: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2120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imes New Roman"/>
              </a:defRPr>
            </a:pPr>
            <a:r>
              <a:t>•  Python 3.12 — Core Language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550468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imes New Roman"/>
              </a:defRPr>
            </a:pPr>
            <a:r>
              <a:t>•  Flask 3.0 — Web Framework +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579729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imes New Roman"/>
              </a:defRPr>
            </a:pPr>
            <a:r>
              <a:t>•  PostgreSQL 16 — Star Schema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608990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imes New Roman"/>
              </a:defRPr>
            </a:pPr>
            <a:r>
              <a:t>•  ReportLab — PDF Invoice Generation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Times New Roman"/>
              </a:defRPr>
            </a:pPr>
            <a:r>
              <a:t>Specification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Times New Roman"/>
              </a:defRPr>
            </a:pPr>
            <a:r>
              <a:t>Hardware &amp; Software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64592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6/15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931920" cy="438912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393192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t>⚙️  HARDWARE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Times New Roman"/>
              </a:defRPr>
            </a:pPr>
            <a:r>
              <a:t>Processor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imes New Roman"/>
              </a:defRPr>
            </a:pPr>
            <a:r>
              <a:t>Intel Core i3 or above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Times New Roman"/>
              </a:defRPr>
            </a:pPr>
            <a:r>
              <a:t>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imes New Roman"/>
              </a:defRPr>
            </a:pPr>
            <a:r>
              <a:t>4 GB minimum (8 GB recommended)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Times New Roman"/>
              </a:defRPr>
            </a:pPr>
            <a:r>
              <a:t>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033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imes New Roman"/>
              </a:defRPr>
            </a:pPr>
            <a:r>
              <a:t>500 MB free disk 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23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Times New Roman"/>
              </a:defRPr>
            </a:pPr>
            <a:r>
              <a:t>Display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519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imes New Roman"/>
              </a:defRPr>
            </a:pPr>
            <a:r>
              <a:t>1366 × 768 or higher 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Times New Roman"/>
              </a:defRPr>
            </a:pPr>
            <a:r>
              <a:t>Network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00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imes New Roman"/>
              </a:defRPr>
            </a:pPr>
            <a:r>
              <a:t>Internet connection for fonts/CDN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206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Times New Roman"/>
              </a:defRPr>
            </a:pPr>
            <a:r>
              <a:t>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492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imes New Roman"/>
              </a:defRPr>
            </a:pPr>
            <a:r>
              <a:t>64-bit operating system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1737360"/>
            <a:ext cx="3931920" cy="438912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754880" y="1737360"/>
            <a:ext cx="393192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37760" y="18288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Times New Roman"/>
              </a:defRPr>
            </a:pPr>
            <a:r>
              <a:t>💻  SOFTWARE REQUIREMENTS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23774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Times New Roman"/>
              </a:defRPr>
            </a:pPr>
            <a:r>
              <a:t>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26060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imes New Roman"/>
              </a:defRPr>
            </a:pPr>
            <a:r>
              <a:t>Windows 10/11, Ubuntu 20+, macOS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29260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Times New Roman"/>
              </a:defRPr>
            </a:pPr>
            <a:r>
              <a:t>Python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31546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imes New Roman"/>
              </a:defRPr>
            </a:pPr>
            <a:r>
              <a:t>Version 3.8 or above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4747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Times New Roman"/>
              </a:defRPr>
            </a:pPr>
            <a:r>
              <a:t>PostgreSQL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37033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imes New Roman"/>
              </a:defRPr>
            </a:pPr>
            <a:r>
              <a:t>Version 14 or above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4023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Times New Roman"/>
              </a:defRPr>
            </a:pPr>
            <a:r>
              <a:t>Browser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42519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imes New Roman"/>
              </a:defRPr>
            </a:pPr>
            <a:r>
              <a:t>Chrome, Firefox, Edge (latest)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4572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Times New Roman"/>
              </a:defRPr>
            </a:pPr>
            <a:r>
              <a:t>pip Packages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4800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imes New Roman"/>
              </a:defRPr>
            </a:pPr>
            <a:r>
              <a:t>flask, psycopg2, reportlab, flask-cors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51206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Times New Roman"/>
              </a:defRPr>
            </a:pPr>
            <a:r>
              <a:t>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53492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imes New Roman"/>
              </a:defRPr>
            </a:pPr>
            <a:r>
              <a:t>VS Code, PyCharm (optional)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Times New Roman"/>
              </a:defRPr>
            </a:pPr>
            <a:r>
              <a:t>Project Flow — ER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Times New Roman"/>
              </a:defRPr>
            </a:pPr>
            <a:r>
              <a:t>5-Table Star Schema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64592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7/15</a:t>
            </a:r>
          </a:p>
        </p:txBody>
      </p:sp>
      <p:pic>
        <p:nvPicPr>
          <p:cNvPr id="7" name="Picture 6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508760"/>
            <a:ext cx="8961120" cy="57821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Times New Roman"/>
              </a:defRPr>
            </a:pPr>
            <a:r>
              <a:t>Project Flow — DFD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Times New Roman"/>
              </a:defRPr>
            </a:pPr>
            <a:r>
              <a:t>Data Flow Diagrams (Level 0 &amp; Level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64592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8/15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Times New Roman"/>
              </a:defRPr>
            </a:pPr>
            <a:r>
              <a:t>DFD Level 0 (Context Diagram)</a:t>
            </a:r>
          </a:p>
        </p:txBody>
      </p:sp>
      <p:pic>
        <p:nvPicPr>
          <p:cNvPr id="8" name="Picture 7" descr="dfd_leve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874519"/>
            <a:ext cx="4480560" cy="22839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54880" y="15544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t>DFD Level 1 (Detailed Processes)</a:t>
            </a:r>
          </a:p>
        </p:txBody>
      </p:sp>
      <p:pic>
        <p:nvPicPr>
          <p:cNvPr id="10" name="Picture 9" descr="dfd_leve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74519"/>
            <a:ext cx="4480560" cy="31091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Times New Roman"/>
              </a:defRPr>
            </a:pPr>
            <a:r>
              <a:t>Page Layout —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Times New Roman"/>
              </a:defRPr>
            </a:pPr>
            <a:r>
              <a:t>Dashboard, Login &amp; Sales Pages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64592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9/15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Times New Roman"/>
              </a:defRPr>
            </a:pPr>
            <a:r>
              <a:t>Dashboard (Public)</a:t>
            </a:r>
          </a:p>
        </p:txBody>
      </p:sp>
      <p:pic>
        <p:nvPicPr>
          <p:cNvPr id="8" name="Picture 7" descr="s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2834640" cy="16676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9184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Times New Roman"/>
              </a:defRPr>
            </a:pPr>
            <a:r>
              <a:rPr dirty="0"/>
              <a:t>Admin Login</a:t>
            </a:r>
          </a:p>
        </p:txBody>
      </p:sp>
      <p:pic>
        <p:nvPicPr>
          <p:cNvPr id="10" name="Picture 9" descr="ss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828800"/>
            <a:ext cx="2834640" cy="199415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Times New Roman"/>
              </a:defRPr>
            </a:pPr>
            <a:r>
              <a:t>Sales Management</a:t>
            </a:r>
          </a:p>
        </p:txBody>
      </p:sp>
      <p:pic>
        <p:nvPicPr>
          <p:cNvPr id="12" name="Picture 11" descr="ss_sa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828800"/>
            <a:ext cx="2834640" cy="166763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Times New Roman"/>
              </a:defRPr>
            </a:pPr>
            <a:r>
              <a:t>Products</a:t>
            </a:r>
          </a:p>
        </p:txBody>
      </p:sp>
      <p:pic>
        <p:nvPicPr>
          <p:cNvPr id="14" name="Picture 13" descr="ss_produc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4846320"/>
            <a:ext cx="2834640" cy="16676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Times New Roman"/>
              </a:defRPr>
            </a:pPr>
            <a:r>
              <a:t>Page Layout —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Times New Roman"/>
              </a:defRPr>
            </a:pPr>
            <a:r>
              <a:t>Invoices, Stocks &amp; Reports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64592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10/15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Times New Roman"/>
              </a:defRPr>
            </a:pPr>
            <a:r>
              <a:t>Invoice Builder</a:t>
            </a:r>
          </a:p>
        </p:txBody>
      </p:sp>
      <p:pic>
        <p:nvPicPr>
          <p:cNvPr id="8" name="Picture 7" descr="ss_invo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2834640" cy="16676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9184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Times New Roman"/>
              </a:defRPr>
            </a:pPr>
            <a:r>
              <a:t>Stock Management</a:t>
            </a:r>
          </a:p>
        </p:txBody>
      </p:sp>
      <p:pic>
        <p:nvPicPr>
          <p:cNvPr id="10" name="Picture 9" descr="ss_stoc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828800"/>
            <a:ext cx="2834640" cy="16676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Times New Roman"/>
              </a:defRPr>
            </a:pPr>
            <a:r>
              <a:t>Reports &amp; Analytics</a:t>
            </a:r>
          </a:p>
        </p:txBody>
      </p:sp>
      <p:pic>
        <p:nvPicPr>
          <p:cNvPr id="12" name="Picture 11" descr="ss_repor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828800"/>
            <a:ext cx="2834640" cy="16676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Times New Roman"/>
              </a:defRPr>
            </a:pPr>
            <a:r>
              <a:t>Security Applied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Times New Roman"/>
              </a:defRPr>
            </a:pPr>
            <a:r>
              <a:t>Authentication &amp; Access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64592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11/15</a:t>
            </a:r>
          </a:p>
        </p:txBody>
      </p:sp>
      <p:pic>
        <p:nvPicPr>
          <p:cNvPr id="7" name="Picture 6" descr="auth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029200" cy="256365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94960" y="1554480"/>
            <a:ext cx="3474720" cy="50292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94960" y="1554480"/>
            <a:ext cx="347472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77840" y="1645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Times New Roman"/>
              </a:defRPr>
            </a:pPr>
            <a:r>
              <a:t>🔐  SECURITY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1031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Times New Roman"/>
              </a:defRPr>
            </a:pPr>
            <a:r>
              <a:t>▸  Session-Based 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3317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Flask sessions with secure cookies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6517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Times New Roman"/>
              </a:defRPr>
            </a:pPr>
            <a:r>
              <a:t>▸  30-Min Expiry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8803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Auto-logout after inactivity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32004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Times New Roman"/>
              </a:defRPr>
            </a:pPr>
            <a:r>
              <a:t>▸  @login_required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4290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Python decorator protects routes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749039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Times New Roman"/>
              </a:defRPr>
            </a:pPr>
            <a:r>
              <a:t>▸  Public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977639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GET endpoints remain accessible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4297679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Times New Roman"/>
              </a:defRPr>
            </a:pPr>
            <a:r>
              <a:t>▸  Protected CRUD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526279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POST/PUT/DELETE require login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48463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Times New Roman"/>
              </a:defRPr>
            </a:pPr>
            <a:r>
              <a:t>▸  401 Auto-Redirect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50749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Expired session → login overlay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5394959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Times New Roman"/>
              </a:defRPr>
            </a:pPr>
            <a:r>
              <a:t>▸  CORS Protection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5623559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flask-cors for cross-origin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59436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Times New Roman"/>
              </a:defRPr>
            </a:pPr>
            <a:r>
              <a:t>▸  Password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61722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Server-side credential checking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Times New Roman"/>
              </a:defRPr>
            </a:pPr>
            <a:r>
              <a:t>Result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Times New Roman"/>
              </a:defRPr>
            </a:pPr>
            <a:r>
              <a:t>Dashboard Analytics &amp; KPIs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64592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12/15</a:t>
            </a:r>
          </a:p>
        </p:txBody>
      </p:sp>
      <p:pic>
        <p:nvPicPr>
          <p:cNvPr id="7" name="Picture 6" descr="result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480"/>
            <a:ext cx="8595360" cy="261941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74320" y="5029200"/>
            <a:ext cx="1600200" cy="128016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5029200"/>
            <a:ext cx="16002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516636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  <a:latin typeface="Times New Roman"/>
              </a:defRPr>
            </a:pPr>
            <a:r>
              <a:t>$100,000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66928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Total 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79" y="5029200"/>
            <a:ext cx="1600200" cy="128016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11679" y="5029200"/>
            <a:ext cx="16002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03119" y="516636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Times New Roman"/>
              </a:defRPr>
            </a:pPr>
            <a:r>
              <a:t>245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19" y="566928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Total Sales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5029200"/>
            <a:ext cx="1600200" cy="128016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749039" y="5029200"/>
            <a:ext cx="16002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79" y="516636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Times New Roman"/>
              </a:defRPr>
            </a:pPr>
            <a:r>
              <a:t>$408.16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79" y="566928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Avg Order Value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399" y="5029200"/>
            <a:ext cx="1600200" cy="128016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399" y="5029200"/>
            <a:ext cx="160020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77839" y="516636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C4899"/>
                </a:solidFill>
                <a:latin typeface="Times New Roman"/>
              </a:defRPr>
            </a:pPr>
            <a:r>
              <a:t>48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39" y="566928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Total Customers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5029200"/>
            <a:ext cx="1600200" cy="128016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23759" y="5029200"/>
            <a:ext cx="1600200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199" y="516636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97316"/>
                </a:solidFill>
                <a:latin typeface="Times New Roman"/>
              </a:defRPr>
            </a:pPr>
            <a: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199" y="566928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Total Products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7162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Times New Roman"/>
              </a:defRPr>
            </a:pPr>
            <a:r>
              <a:rPr dirty="0"/>
              <a:t>Conclusion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04222A7-0809-496A-18C0-30F074FE4F95}"/>
              </a:ext>
            </a:extLst>
          </p:cNvPr>
          <p:cNvGrpSpPr/>
          <p:nvPr/>
        </p:nvGrpSpPr>
        <p:grpSpPr>
          <a:xfrm>
            <a:off x="539299" y="641996"/>
            <a:ext cx="8046720" cy="482600"/>
            <a:chOff x="548640" y="914400"/>
            <a:chExt cx="8046720" cy="482600"/>
          </a:xfrm>
        </p:grpSpPr>
        <p:sp>
          <p:nvSpPr>
            <p:cNvPr id="4" name="TextBox 3"/>
            <p:cNvSpPr txBox="1"/>
            <p:nvPr/>
          </p:nvSpPr>
          <p:spPr>
            <a:xfrm>
              <a:off x="548640" y="914400"/>
              <a:ext cx="804672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0">
                  <a:solidFill>
                    <a:srgbClr val="6B7280"/>
                  </a:solidFill>
                  <a:latin typeface="Times New Roman"/>
                </a:defRPr>
              </a:pPr>
              <a:r>
                <a:t>Project Summary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548640" y="1371600"/>
              <a:ext cx="1645920" cy="25400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6917120-10D9-3200-2D4A-34BE7E3EABB1}"/>
              </a:ext>
            </a:extLst>
          </p:cNvPr>
          <p:cNvGrpSpPr/>
          <p:nvPr/>
        </p:nvGrpSpPr>
        <p:grpSpPr>
          <a:xfrm>
            <a:off x="554046" y="1006824"/>
            <a:ext cx="8229600" cy="914400"/>
            <a:chOff x="618449" y="675510"/>
            <a:chExt cx="8229600" cy="914400"/>
          </a:xfrm>
        </p:grpSpPr>
        <p:sp>
          <p:nvSpPr>
            <p:cNvPr id="7" name="Rounded Rectangle 6"/>
            <p:cNvSpPr/>
            <p:nvPr/>
          </p:nvSpPr>
          <p:spPr>
            <a:xfrm>
              <a:off x="618449" y="675510"/>
              <a:ext cx="8229600" cy="914400"/>
            </a:xfrm>
            <a:prstGeom prst="roundRect">
              <a:avLst>
                <a:gd name="adj" fmla="val 4000"/>
              </a:avLst>
            </a:prstGeom>
            <a:solidFill>
              <a:srgbClr val="F8F9FA"/>
            </a:solidFill>
            <a:ln w="12700">
              <a:solidFill>
                <a:srgbClr val="10B9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01329" y="766950"/>
              <a:ext cx="786384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500" b="1">
                  <a:solidFill>
                    <a:srgbClr val="10B981"/>
                  </a:solidFill>
                  <a:latin typeface="Times New Roman"/>
                </a:defRPr>
              </a:pPr>
              <a:r>
                <a:rPr dirty="0"/>
                <a:t>✅  ALL PROJECT OBJECTIVES SUCCESSFULLY ACHIEVED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01329" y="1132710"/>
              <a:ext cx="786384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0">
                  <a:solidFill>
                    <a:srgbClr val="334155"/>
                  </a:solidFill>
                  <a:latin typeface="Times New Roman"/>
                </a:defRPr>
              </a:pPr>
              <a:r>
                <a:t>SalesDB delivers a complete, functional sales management system with modern UI.</a:t>
              </a:r>
            </a:p>
          </p:txBody>
        </p:sp>
      </p:grpSp>
      <p:sp>
        <p:nvSpPr>
          <p:cNvPr id="11" name="Rectangle 10"/>
          <p:cNvSpPr/>
          <p:nvPr/>
        </p:nvSpPr>
        <p:spPr>
          <a:xfrm>
            <a:off x="919480" y="2469864"/>
            <a:ext cx="50800" cy="228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8080" y="24150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Times New Roman"/>
              </a:defRPr>
            </a:pPr>
            <a:r>
              <a:rPr dirty="0"/>
              <a:t>Developed a full-stack web application using Flask, PostgreSQL, and modern JavaScript.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9480" y="2972784"/>
            <a:ext cx="50800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8080" y="2917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Times New Roman"/>
              </a:defRPr>
            </a:pPr>
            <a:r>
              <a:rPr dirty="0"/>
              <a:t>Implemented comprehensive CRUD operations across 7 application modules.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9480" y="3475704"/>
            <a:ext cx="5080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8080" y="34208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Times New Roman"/>
              </a:defRPr>
            </a:pPr>
            <a:r>
              <a:t>Created 5 relational database tables following star schema design.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9480" y="3978624"/>
            <a:ext cx="50800" cy="2286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8080" y="39237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Times New Roman"/>
              </a:defRPr>
            </a:pPr>
            <a:r>
              <a:rPr dirty="0"/>
              <a:t>Built 20+ RESTful API endpoints with session-based authentication.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9480" y="4481544"/>
            <a:ext cx="50800" cy="228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8080" y="44266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Times New Roman"/>
              </a:defRPr>
            </a:pPr>
            <a:r>
              <a:rPr dirty="0"/>
              <a:t>Delivered professional PDF invoice generation using </a:t>
            </a:r>
            <a:r>
              <a:rPr dirty="0" err="1"/>
              <a:t>ReportLab</a:t>
            </a:r>
            <a:r>
              <a:rPr dirty="0"/>
              <a:t>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9480" y="4984464"/>
            <a:ext cx="50800" cy="2286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8080" y="49296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Times New Roman"/>
              </a:defRPr>
            </a:pPr>
            <a:r>
              <a:t>Integrated real-time stock tracking with automated alerts.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9480" y="5487384"/>
            <a:ext cx="50800" cy="228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48080" y="5432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Times New Roman"/>
              </a:defRPr>
            </a:pPr>
            <a:r>
              <a:t>Provided advanced reporting with multi-filter support and CSV export.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26680" y="631437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13/15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6085774"/>
            <a:ext cx="1965960" cy="64008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610406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  <a:latin typeface="Times New Roman"/>
              </a:defRPr>
            </a:pPr>
            <a: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6177214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imes New Roman"/>
              </a:defRPr>
            </a:pPr>
            <a:r>
              <a:t>Modules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60320" y="6085774"/>
            <a:ext cx="1965960" cy="64008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51760" y="610406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Times New Roman"/>
              </a:defRPr>
            </a:pPr>
            <a:r>
              <a:t>20+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6177214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imes New Roman"/>
              </a:defRPr>
            </a:pPr>
            <a:r>
              <a:t>API Endpoints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09160" y="6085774"/>
            <a:ext cx="1965960" cy="64008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00600" y="610406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80" y="6177214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imes New Roman"/>
              </a:defRPr>
            </a:pPr>
            <a:r>
              <a:t>DB Tables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6085774"/>
            <a:ext cx="1965960" cy="64008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49440" y="610406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C4899"/>
                </a:solidFill>
                <a:latin typeface="Times New Roman"/>
              </a:defRPr>
            </a:pPr>
            <a:r>
              <a:t>15+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6177214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imes New Roman"/>
              </a:defRPr>
            </a:pPr>
            <a:r>
              <a:rPr dirty="0"/>
              <a:t>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1421" y="974015"/>
            <a:ext cx="82296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Times New Roman"/>
              </a:defRPr>
            </a:pPr>
            <a:r>
              <a:t>Future Enhancement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Times New Roman"/>
              </a:defRPr>
            </a:pPr>
            <a:r>
              <a:t>Planned Improvements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459" y="1310116"/>
            <a:ext cx="164592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14/15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4206240" cy="96012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45920"/>
            <a:ext cx="50800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71907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Times New Roman"/>
              </a:defRPr>
            </a:pPr>
            <a:r>
              <a:t>💳  Payment Gateway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Times New Roman"/>
              </a:defRPr>
            </a:pPr>
            <a:r>
              <a:t>Stripe/Razorpay for online payments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645920"/>
            <a:ext cx="4206240" cy="96012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54880" y="1645920"/>
            <a:ext cx="50800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2040" y="171907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Times New Roman"/>
              </a:defRPr>
            </a:pPr>
            <a:r>
              <a:t>📧  Email Invoice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1031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Times New Roman"/>
              </a:defRPr>
            </a:pPr>
            <a:r>
              <a:t>Auto-send PDF invoices via SendGrid/SMTP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788920"/>
            <a:ext cx="4206240" cy="96012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2788920"/>
            <a:ext cx="50800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86207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Times New Roman"/>
              </a:defRPr>
            </a:pPr>
            <a:r>
              <a:t>👥  Multi-User Role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2461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Times New Roman"/>
              </a:defRPr>
            </a:pPr>
            <a:r>
              <a:t>Admin, Manager, Employee with different permissions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2788920"/>
            <a:ext cx="4206240" cy="96012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54880" y="2788920"/>
            <a:ext cx="50800" cy="9601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92040" y="286207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Times New Roman"/>
              </a:defRPr>
            </a:pPr>
            <a:r>
              <a:t>📱  Mobile Application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32461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Times New Roman"/>
              </a:defRPr>
            </a:pPr>
            <a:r>
              <a:t>React Native / Flutter companion app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931920"/>
            <a:ext cx="4206240" cy="96012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3931920"/>
            <a:ext cx="50800" cy="9601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400507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Times New Roman"/>
              </a:defRPr>
            </a:pPr>
            <a:r>
              <a:t>🔍  Barcode / QR Scanner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3891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Times New Roman"/>
              </a:defRPr>
            </a:pPr>
            <a:r>
              <a:t>Quick product lookup and inventory scanning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0" y="3931920"/>
            <a:ext cx="4206240" cy="96012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754880" y="3931920"/>
            <a:ext cx="50800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92040" y="400507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Times New Roman"/>
              </a:defRPr>
            </a:pPr>
            <a:r>
              <a:t>☁️  Cloud 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43891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Times New Roman"/>
              </a:defRPr>
            </a:pPr>
            <a:r>
              <a:t>Deploy on AWS / Heroku / Railway with CI/CD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5074920"/>
            <a:ext cx="4206240" cy="96012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5074920"/>
            <a:ext cx="50800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514807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Times New Roman"/>
              </a:defRPr>
            </a:pPr>
            <a:r>
              <a:t>📊  Advanced 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5321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Times New Roman"/>
              </a:defRPr>
            </a:pPr>
            <a:r>
              <a:t>Predictive sales forecasting with ML models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0" y="5074920"/>
            <a:ext cx="4206240" cy="96012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754880" y="5074920"/>
            <a:ext cx="50800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92040" y="514807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Times New Roman"/>
              </a:defRPr>
            </a:pPr>
            <a:r>
              <a:t>🔔  Real-time Notifications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55321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Times New Roman"/>
              </a:defRPr>
            </a:pPr>
            <a:r>
              <a:t>WebSocket-based live updates for stock alerts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Times New Roman"/>
              </a:defRPr>
            </a:pPr>
            <a:r>
              <a:rPr dirty="0"/>
              <a:t>Bibliography /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Times New Roman"/>
              </a:defRPr>
            </a:pPr>
            <a:r>
              <a:rPr dirty="0"/>
              <a:t>Resources &amp; Documentation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64592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15/15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Times New Roman"/>
              </a:defRPr>
            </a:pPr>
            <a:r>
              <a:t>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Times New Roman"/>
              </a:defRPr>
            </a:pPr>
            <a:r>
              <a:t>Flask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Times New Roman"/>
              </a:defRPr>
            </a:pPr>
            <a:r>
              <a:t>https://flask.palletsprojects.com/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011680"/>
            <a:ext cx="7498079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[2]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Times New Roman"/>
              </a:defRPr>
            </a:pPr>
            <a:r>
              <a:t>PostgreSQL Documentation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103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Times New Roman"/>
              </a:defRPr>
            </a:pPr>
            <a:r>
              <a:t>https://www.postgresql.org/docs/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468880"/>
            <a:ext cx="7498079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Times New Roman"/>
              </a:defRPr>
            </a:pPr>
            <a:r>
              <a:t>[3]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Times New Roman"/>
              </a:defRPr>
            </a:pPr>
            <a:r>
              <a:t>Chart.js Documentation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Times New Roman"/>
              </a:defRPr>
            </a:pPr>
            <a:r>
              <a:t>https://www.chartjs.org/docs/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2926080"/>
            <a:ext cx="7498079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017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C4899"/>
                </a:solidFill>
                <a:latin typeface="Times New Roman"/>
              </a:defRPr>
            </a:pPr>
            <a:r>
              <a:t>[4]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017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Times New Roman"/>
              </a:defRPr>
            </a:pPr>
            <a:r>
              <a:t>ReportLab User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017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Times New Roman"/>
              </a:defRPr>
            </a:pPr>
            <a:r>
              <a:t>https://www.reportlab.com/docs/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3383280"/>
            <a:ext cx="7498079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Times New Roman"/>
              </a:defRPr>
            </a:pPr>
            <a:r>
              <a:t>[5]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474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Times New Roman"/>
              </a:defRPr>
            </a:pPr>
            <a:r>
              <a:t>MDN Web Docs (HTML/CSS/JS)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474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Times New Roman"/>
              </a:defRPr>
            </a:pPr>
            <a:r>
              <a:t>https://developer.mozilla.org/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3840480"/>
            <a:ext cx="7498079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3931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Times New Roman"/>
              </a:defRPr>
            </a:pPr>
            <a:r>
              <a:t>[6]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Times New Roman"/>
              </a:defRPr>
            </a:pPr>
            <a:r>
              <a:t>psycopg2 Documentation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931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Times New Roman"/>
              </a:defRPr>
            </a:pPr>
            <a:r>
              <a:t>https://www.psycopg.org/docs/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0" y="4297680"/>
            <a:ext cx="7498079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4389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Times New Roman"/>
              </a:defRPr>
            </a:pPr>
            <a:r>
              <a:t>[7]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389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Times New Roman"/>
              </a:defRPr>
            </a:pPr>
            <a:r>
              <a:t>python-pptx Documentation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4389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Times New Roman"/>
              </a:defRPr>
            </a:pPr>
            <a:r>
              <a:t>https://python-pptx.readthedocs.io/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0" y="4754880"/>
            <a:ext cx="7498079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4846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rPr dirty="0"/>
              <a:t>[8]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97280" y="5212080"/>
            <a:ext cx="7498079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5303520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Times New Roman"/>
              </a:defRPr>
            </a:pPr>
            <a:r>
              <a:rPr dirty="0"/>
              <a:t>[</a:t>
            </a:r>
            <a:r>
              <a:rPr lang="en-US" dirty="0"/>
              <a:t>8</a:t>
            </a:r>
            <a:r>
              <a:rPr dirty="0"/>
              <a:t>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5303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Times New Roman"/>
              </a:defRPr>
            </a:pPr>
            <a:r>
              <a:t>https://stackoverflow.com/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97280" y="5669280"/>
            <a:ext cx="7498079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97280" y="4773295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Times New Roman"/>
              </a:defRPr>
            </a:pPr>
            <a:r>
              <a:rPr dirty="0"/>
              <a:t>GitHub — Version Control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5303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Times New Roman"/>
              </a:defRPr>
            </a:pPr>
            <a:r>
              <a:t>Stack Overflow Community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0" y="483523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Times New Roman"/>
              </a:defRPr>
            </a:pPr>
            <a:r>
              <a:rPr dirty="0"/>
              <a:t>https://github.com/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E2E52-95F6-9F76-8430-F66893316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35B014B7-F77E-F83F-A59C-636DF2A47F1D}"/>
              </a:ext>
            </a:extLst>
          </p:cNvPr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4539F8-30E7-EBE9-38B5-1026AF7A9ED9}"/>
              </a:ext>
            </a:extLst>
          </p:cNvPr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Times New Roman"/>
              </a:defRPr>
            </a:pPr>
            <a:r>
              <a:rPr lang="en-US" dirty="0"/>
              <a:t>THANK YOU </a:t>
            </a:r>
            <a:endParaRPr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975D2F-0A65-3EB2-4780-90B28D6EB60C}"/>
              </a:ext>
            </a:extLst>
          </p:cNvPr>
          <p:cNvSpPr txBox="1"/>
          <p:nvPr/>
        </p:nvSpPr>
        <p:spPr>
          <a:xfrm>
            <a:off x="548640" y="1386349"/>
            <a:ext cx="8046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  <a:latin typeface="Times New Roman"/>
              </a:defRPr>
            </a:pPr>
            <a:r>
              <a:rPr lang="en-US" dirty="0"/>
              <a:t>Any Question 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6121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1068</Words>
  <Application>Microsoft Office PowerPoint</Application>
  <PresentationFormat>On-screen Show (4:3)</PresentationFormat>
  <Paragraphs>251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ABHIJIT SAHOO</cp:lastModifiedBy>
  <cp:revision>7</cp:revision>
  <dcterms:created xsi:type="dcterms:W3CDTF">2013-01-27T09:14:16Z</dcterms:created>
  <dcterms:modified xsi:type="dcterms:W3CDTF">2026-03-28T07:17:19Z</dcterms:modified>
  <cp:category/>
</cp:coreProperties>
</file>